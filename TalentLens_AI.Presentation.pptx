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12064" y="32918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2064" y="96926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12064" y="160934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12064" y="224942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12064" y="288950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12064" y="352958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12064" y="416966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60704" y="32918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" y="96926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60704" y="160934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60704" y="224942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288950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60704" y="352958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0704" y="416966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09344" y="32918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609344" y="96926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09344" y="160934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609344" y="224942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09344" y="288950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09344" y="352958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09344" y="416966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57984" y="32918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157984" y="96926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157984" y="160934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157984" y="224942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157984" y="288950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157984" y="352958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57984" y="416966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06624" y="32918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06624" y="96926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06624" y="160934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706624" y="224942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706624" y="288950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06624" y="352958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06624" y="4169664"/>
            <a:ext cx="73152" cy="73152"/>
          </a:xfrm>
          <a:prstGeom prst="ellipse">
            <a:avLst/>
          </a:prstGeom>
          <a:solidFill>
            <a:srgbClr val="2E4D8C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56032" y="914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TalentLens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256032" y="1508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4200" dirty="0"/>
          </a:p>
        </p:txBody>
      </p:sp>
      <p:sp>
        <p:nvSpPr>
          <p:cNvPr id="40" name="Shape 38"/>
          <p:cNvSpPr/>
          <p:nvPr/>
        </p:nvSpPr>
        <p:spPr>
          <a:xfrm>
            <a:off x="256032" y="2084832"/>
            <a:ext cx="1645920" cy="45720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41" name="Text 39"/>
          <p:cNvSpPr/>
          <p:nvPr/>
        </p:nvSpPr>
        <p:spPr>
          <a:xfrm>
            <a:off x="256032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Shortlisting System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56032" y="333756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60120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 Srivastava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56032" y="37490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60120" y="3749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AIML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56032" y="41605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Univ.: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60120" y="4160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UPES Dehradun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840480" y="411480"/>
            <a:ext cx="5029200" cy="4251960"/>
          </a:xfrm>
          <a:prstGeom prst="roundRect">
            <a:avLst>
              <a:gd name="adj" fmla="val 1505"/>
            </a:avLst>
          </a:prstGeom>
          <a:solidFill>
            <a:srgbClr val="F7F8FA"/>
          </a:solidFill>
          <a:ln w="10160">
            <a:solidFill>
              <a:srgbClr val="E8ECF2"/>
            </a:solidFill>
            <a:prstDash val="solid"/>
          </a:ln>
        </p:spPr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77640" y="548640"/>
            <a:ext cx="4754880" cy="3977640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384048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— live deployment at Streamlit Cloud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traditional resume screening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0" cy="1508760"/>
          </a:xfrm>
          <a:prstGeom prst="roundRect">
            <a:avLst>
              <a:gd name="adj" fmla="val 4242"/>
            </a:avLst>
          </a:prstGeom>
          <a:solidFill>
            <a:srgbClr val="F7F8FA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53312"/>
            <a:ext cx="50292" cy="1188720"/>
          </a:xfrm>
          <a:prstGeom prst="rect">
            <a:avLst/>
          </a:prstGeom>
          <a:solidFill>
            <a:srgbClr val="2E4D8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3533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of Applications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181051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receive hundreds of resumes per job posting. Manual review of each is neither practical nor scalable.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1188720"/>
            <a:ext cx="4114800" cy="1508760"/>
          </a:xfrm>
          <a:prstGeom prst="roundRect">
            <a:avLst>
              <a:gd name="adj" fmla="val 4242"/>
            </a:avLst>
          </a:prstGeom>
          <a:solidFill>
            <a:srgbClr val="F7F8FA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1353312"/>
            <a:ext cx="50292" cy="1188720"/>
          </a:xfrm>
          <a:prstGeom prst="rect">
            <a:avLst/>
          </a:prstGeom>
          <a:solidFill>
            <a:srgbClr val="2E4D8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38988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3533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Screening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029200" y="181051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average, a recruiter spends 6–7 seconds per resume. The entire shortlisting process can take days or weeks.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2880360"/>
            <a:ext cx="4114800" cy="1508760"/>
          </a:xfrm>
          <a:prstGeom prst="roundRect">
            <a:avLst>
              <a:gd name="adj" fmla="val 4242"/>
            </a:avLst>
          </a:prstGeom>
          <a:solidFill>
            <a:srgbClr val="F7F8FA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3044952"/>
            <a:ext cx="50292" cy="1188720"/>
          </a:xfrm>
          <a:prstGeom prst="rect">
            <a:avLst/>
          </a:prstGeom>
          <a:solidFill>
            <a:srgbClr val="2E4D8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8152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7280" y="30449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Mismatch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350215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are often shortlisted or rejected based on keyword matches rather than actual skill relevance.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846320" y="2880360"/>
            <a:ext cx="4114800" cy="1508760"/>
          </a:xfrm>
          <a:prstGeom prst="roundRect">
            <a:avLst>
              <a:gd name="adj" fmla="val 4242"/>
            </a:avLst>
          </a:prstGeom>
          <a:solidFill>
            <a:srgbClr val="F7F8FA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46320" y="3044952"/>
            <a:ext cx="50292" cy="1188720"/>
          </a:xfrm>
          <a:prstGeom prst="rect">
            <a:avLst/>
          </a:prstGeom>
          <a:solidFill>
            <a:srgbClr val="2E4D8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081528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0" y="30449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Traditional ATS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029200" y="350215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ATS systems fail to understand context, synonyms, or semantically related skills in resumes.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TalentLens AI is built to 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TalentLens AI automates the resume evaluation pipeline using NLP and semantic matching to help recruiters identify the most suitable candidates quickly and objectively.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83080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737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  —  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017520" y="173736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extract text content from uploaded PDF resumes using PyPDF2.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240280"/>
            <a:ext cx="8229600" cy="16459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2395728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395728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17320" y="23500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  —  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017520" y="235000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list technical and domain skills from each resume.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2852928"/>
            <a:ext cx="8229600" cy="16459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9" name="Shape 15"/>
          <p:cNvSpPr/>
          <p:nvPr/>
        </p:nvSpPr>
        <p:spPr>
          <a:xfrm>
            <a:off x="457200" y="3008376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6"/>
          <p:cNvSpPr/>
          <p:nvPr/>
        </p:nvSpPr>
        <p:spPr>
          <a:xfrm>
            <a:off x="457200" y="3008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008376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296265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Ranking  —  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017520" y="2962656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rank candidates based on JD-resume alignment.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" y="3465576"/>
            <a:ext cx="8229600" cy="16459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5" name="Shape 20"/>
          <p:cNvSpPr/>
          <p:nvPr/>
        </p:nvSpPr>
        <p:spPr>
          <a:xfrm>
            <a:off x="457200" y="3621024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1"/>
          <p:cNvSpPr/>
          <p:nvPr/>
        </p:nvSpPr>
        <p:spPr>
          <a:xfrm>
            <a:off x="457200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621024"/>
            <a:ext cx="301752" cy="30175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17320" y="357530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Matching  —  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3017520" y="3575304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Sentence-BERT embeddings for deep contextual similarity scoring.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57200" y="4078224"/>
            <a:ext cx="8229600" cy="16459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31" name="Shape 25"/>
          <p:cNvSpPr/>
          <p:nvPr/>
        </p:nvSpPr>
        <p:spPr>
          <a:xfrm>
            <a:off x="457200" y="4233672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2" name="Text 26"/>
          <p:cNvSpPr/>
          <p:nvPr/>
        </p:nvSpPr>
        <p:spPr>
          <a:xfrm>
            <a:off x="457200" y="4233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233672"/>
            <a:ext cx="301752" cy="30175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17320" y="418795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 —  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3017520" y="4187952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hire / consider / reject recommendations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and tools used in the project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920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70432"/>
            <a:ext cx="1920240" cy="64008"/>
          </a:xfrm>
          <a:prstGeom prst="roundRect">
            <a:avLst>
              <a:gd name="adj" fmla="val 28571"/>
            </a:avLst>
          </a:prstGeom>
          <a:solidFill>
            <a:srgbClr val="2E4D8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35331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33502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2648" y="176479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624328" y="1170432"/>
            <a:ext cx="1920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24328" y="1170432"/>
            <a:ext cx="1920240" cy="64008"/>
          </a:xfrm>
          <a:prstGeom prst="roundRect">
            <a:avLst>
              <a:gd name="adj" fmla="val 28571"/>
            </a:avLst>
          </a:prstGeom>
          <a:solidFill>
            <a:srgbClr val="2E4D8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35331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18688" y="133502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734056" y="176479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framework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745736" y="1170432"/>
            <a:ext cx="1920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45736" y="1170432"/>
            <a:ext cx="1920240" cy="64008"/>
          </a:xfrm>
          <a:prstGeom prst="roundRect">
            <a:avLst>
              <a:gd name="adj" fmla="val 28571"/>
            </a:avLst>
          </a:prstGeom>
          <a:solidFill>
            <a:srgbClr val="2E4D8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135331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40096" y="133502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855464" y="176479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NLP matching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867144" y="1170432"/>
            <a:ext cx="1920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867144" y="1170432"/>
            <a:ext cx="1920240" cy="64008"/>
          </a:xfrm>
          <a:prstGeom prst="roundRect">
            <a:avLst>
              <a:gd name="adj" fmla="val 28571"/>
            </a:avLst>
          </a:prstGeom>
          <a:solidFill>
            <a:srgbClr val="2E4D8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135331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61504" y="133502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976872" y="176479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02920" y="2615184"/>
            <a:ext cx="1920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02920" y="2615184"/>
            <a:ext cx="1920240" cy="64008"/>
          </a:xfrm>
          <a:prstGeom prst="roundRect">
            <a:avLst>
              <a:gd name="adj" fmla="val 28571"/>
            </a:avLst>
          </a:prstGeom>
          <a:solidFill>
            <a:srgbClr val="6B5B95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2798064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97280" y="277977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612648" y="320954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utilities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2624328" y="2615184"/>
            <a:ext cx="1920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2624328" y="2615184"/>
            <a:ext cx="1920240" cy="64008"/>
          </a:xfrm>
          <a:prstGeom prst="roundRect">
            <a:avLst>
              <a:gd name="adj" fmla="val 28571"/>
            </a:avLst>
          </a:prstGeom>
          <a:solidFill>
            <a:srgbClr val="6B5B95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8920" y="2798064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218688" y="277977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2734056" y="320954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heatmaps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4745736" y="2615184"/>
            <a:ext cx="1920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4745736" y="2615184"/>
            <a:ext cx="1920240" cy="64008"/>
          </a:xfrm>
          <a:prstGeom prst="roundRect">
            <a:avLst>
              <a:gd name="adj" fmla="val 28571"/>
            </a:avLst>
          </a:prstGeom>
          <a:solidFill>
            <a:srgbClr val="6B5B95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2798064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340096" y="277977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4855464" y="320954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text extraction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6867144" y="2615184"/>
            <a:ext cx="1920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6867144" y="2615184"/>
            <a:ext cx="1920240" cy="64008"/>
          </a:xfrm>
          <a:prstGeom prst="roundRect">
            <a:avLst>
              <a:gd name="adj" fmla="val 28571"/>
            </a:avLst>
          </a:prstGeom>
          <a:solidFill>
            <a:srgbClr val="6B5B95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1736" y="2798064"/>
            <a:ext cx="347472" cy="34747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7461504" y="277977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6976872" y="320954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50" dirty="0"/>
          </a:p>
        </p:txBody>
      </p:sp>
      <p:sp>
        <p:nvSpPr>
          <p:cNvPr id="46" name="Text 36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are open-source. Deployed on Streamlit Community Cloud.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upload to ranking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33756" y="1691640"/>
            <a:ext cx="1417320" cy="14630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3756" y="1691640"/>
            <a:ext cx="141732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" y="18013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0756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33756" y="2606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3756" y="28803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+ Resumes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787652" y="214884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C9BB0"/>
                </a:solidFill>
              </a:rPr>
              <a:t>›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098548" y="1691640"/>
            <a:ext cx="1417320" cy="14630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98548" y="1691640"/>
            <a:ext cx="1417320" cy="73152"/>
          </a:xfrm>
          <a:prstGeom prst="rect">
            <a:avLst/>
          </a:prstGeom>
          <a:solidFill>
            <a:srgbClr val="2E4D8C"/>
          </a:solidFill>
          <a:ln/>
        </p:spPr>
      </p:sp>
      <p:sp>
        <p:nvSpPr>
          <p:cNvPr id="15" name="Text 12"/>
          <p:cNvSpPr/>
          <p:nvPr/>
        </p:nvSpPr>
        <p:spPr>
          <a:xfrm>
            <a:off x="2098548" y="18013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207568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98548" y="2606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098548" y="28803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 parsing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552444" y="214884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C9BB0"/>
                </a:solidFill>
              </a:rPr>
              <a:t>›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3863340" y="1691640"/>
            <a:ext cx="1417320" cy="14630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863340" y="1691640"/>
            <a:ext cx="1417320" cy="73152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2" name="Text 18"/>
          <p:cNvSpPr/>
          <p:nvPr/>
        </p:nvSpPr>
        <p:spPr>
          <a:xfrm>
            <a:off x="3863340" y="18013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075688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863340" y="2606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with JD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3863340" y="28803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317236" y="214884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C9BB0"/>
                </a:solidFill>
              </a:rPr>
              <a:t>›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5628132" y="1691640"/>
            <a:ext cx="1417320" cy="14630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628132" y="1691640"/>
            <a:ext cx="1417320" cy="73152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29" name="Text 24"/>
          <p:cNvSpPr/>
          <p:nvPr/>
        </p:nvSpPr>
        <p:spPr>
          <a:xfrm>
            <a:off x="5628132" y="18013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5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2075688"/>
            <a:ext cx="457200" cy="4572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628132" y="2606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Score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628132" y="28803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+ SBERT score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7082028" y="214884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C9BB0"/>
                </a:solidFill>
              </a:rPr>
              <a:t>›</a:t>
            </a:r>
            <a:endParaRPr lang="en-US" sz="2200" dirty="0"/>
          </a:p>
        </p:txBody>
      </p:sp>
      <p:sp>
        <p:nvSpPr>
          <p:cNvPr id="34" name="Shape 28"/>
          <p:cNvSpPr/>
          <p:nvPr/>
        </p:nvSpPr>
        <p:spPr>
          <a:xfrm>
            <a:off x="7392924" y="1691640"/>
            <a:ext cx="1417320" cy="14630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7392924" y="1691640"/>
            <a:ext cx="141732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6" name="Text 30"/>
          <p:cNvSpPr/>
          <p:nvPr/>
        </p:nvSpPr>
        <p:spPr>
          <a:xfrm>
            <a:off x="7392924" y="18013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5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984" y="2075688"/>
            <a:ext cx="457200" cy="4572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392924" y="2606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Rank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7392924" y="28803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dashboard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457200" y="3456432"/>
            <a:ext cx="8229600" cy="1371600"/>
          </a:xfrm>
          <a:prstGeom prst="roundRect">
            <a:avLst>
              <a:gd name="adj" fmla="val 4667"/>
            </a:avLst>
          </a:prstGeom>
          <a:solidFill>
            <a:srgbClr val="F7F8FA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685800" y="35844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685800" y="391363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recruiter uploads a Job Description PDF and multiple resume PDFs. The system extracts text, identifies relevant skills, computes cosine similarity using Sentence-BERT embeddings, calculates an ATS keyword score, and combines them into a weighted overall score. Candidates are ranked and displayed on an interactive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the TalentLens AI interface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5394960" cy="3749040"/>
          </a:xfrm>
          <a:prstGeom prst="roundRect">
            <a:avLst>
              <a:gd name="adj" fmla="val 1707"/>
            </a:avLst>
          </a:prstGeom>
          <a:solidFill>
            <a:srgbClr val="F7F8FA"/>
          </a:solidFill>
          <a:ln w="10160">
            <a:solidFill>
              <a:srgbClr val="E8ECF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5212080" cy="3611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89320" y="1115568"/>
            <a:ext cx="2926080" cy="1874520"/>
          </a:xfrm>
          <a:prstGeom prst="roundRect">
            <a:avLst>
              <a:gd name="adj" fmla="val 3415"/>
            </a:avLst>
          </a:prstGeom>
          <a:solidFill>
            <a:srgbClr val="F7F8FA"/>
          </a:solidFill>
          <a:ln w="10160">
            <a:solidFill>
              <a:srgbClr val="E8ECF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80760" y="1188720"/>
            <a:ext cx="2743200" cy="17373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989320" y="3246120"/>
            <a:ext cx="146304" cy="14630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7"/>
          <p:cNvSpPr/>
          <p:nvPr/>
        </p:nvSpPr>
        <p:spPr>
          <a:xfrm>
            <a:off x="6263640" y="3154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dashboard with match scores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989320" y="3685032"/>
            <a:ext cx="146304" cy="146304"/>
          </a:xfrm>
          <a:prstGeom prst="ellipse">
            <a:avLst/>
          </a:prstGeom>
          <a:solidFill>
            <a:srgbClr val="2E4D8C"/>
          </a:solidFill>
          <a:ln/>
        </p:spPr>
      </p:sp>
      <p:sp>
        <p:nvSpPr>
          <p:cNvPr id="13" name="Text 9"/>
          <p:cNvSpPr/>
          <p:nvPr/>
        </p:nvSpPr>
        <p:spPr>
          <a:xfrm>
            <a:off x="6263640" y="35935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UI with sidebar navigation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89320" y="4123944"/>
            <a:ext cx="146304" cy="146304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5" name="Text 11"/>
          <p:cNvSpPr/>
          <p:nvPr/>
        </p:nvSpPr>
        <p:spPr>
          <a:xfrm>
            <a:off x="6263640" y="40325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ranking by overall score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989320" y="4562856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3"/>
          <p:cNvSpPr/>
          <p:nvPr/>
        </p:nvSpPr>
        <p:spPr>
          <a:xfrm>
            <a:off x="6263640" y="44714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heatmap and gap analysis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of the system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7F8FA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07592"/>
            <a:ext cx="50292" cy="1188720"/>
          </a:xfrm>
          <a:prstGeom prst="rect">
            <a:avLst/>
          </a:prstGeom>
          <a:solidFill>
            <a:srgbClr val="2E4D8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331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33502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1792" y="1764792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scoring against job description requirements to simulate applicant tracking systems.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64408" y="1170432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7F8FA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64408" y="1307592"/>
            <a:ext cx="50292" cy="1188720"/>
          </a:xfrm>
          <a:prstGeom prst="rect">
            <a:avLst/>
          </a:prstGeom>
          <a:solidFill>
            <a:srgbClr val="2E4D8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35331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04488" y="133502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Ranking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29000" y="1764792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are automatically ranked by a weighted score combining ATS and semantic similarity.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71616" y="1170432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7F8FA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307592"/>
            <a:ext cx="50292" cy="1188720"/>
          </a:xfrm>
          <a:prstGeom prst="rect">
            <a:avLst/>
          </a:prstGeom>
          <a:solidFill>
            <a:srgbClr val="2E4D8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35331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11696" y="133502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Heatmaps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36208" y="1764792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heatmap showing which skills each candidate has and which are missing for the role.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2816352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7F8FA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57200" y="2953512"/>
            <a:ext cx="50292" cy="1188720"/>
          </a:xfrm>
          <a:prstGeom prst="rect">
            <a:avLst/>
          </a:prstGeom>
          <a:solidFill>
            <a:srgbClr val="6B5B9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9923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97280" y="298094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Comparison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21792" y="3410712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view of top candidates across key skill dimensions.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64408" y="2816352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7F8FA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264408" y="2953512"/>
            <a:ext cx="50292" cy="1188720"/>
          </a:xfrm>
          <a:prstGeom prst="rect">
            <a:avLst/>
          </a:prstGeom>
          <a:solidFill>
            <a:srgbClr val="6B5B95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2999232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04488" y="298094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Insights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429000" y="3410712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notes — Hire / Consider / Reject — with brief reasoning for each candidate.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071616" y="2816352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7F8FA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071616" y="2953512"/>
            <a:ext cx="50292" cy="1188720"/>
          </a:xfrm>
          <a:prstGeom prst="rect">
            <a:avLst/>
          </a:prstGeom>
          <a:solidFill>
            <a:srgbClr val="6B5B95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2999232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11696" y="298094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 System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236208" y="3410712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interface to upload one JD and multiple resume PDFs simultaneously.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from the system on sample data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029200" cy="3703320"/>
          </a:xfrm>
          <a:prstGeom prst="roundRect">
            <a:avLst>
              <a:gd name="adj" fmla="val 1728"/>
            </a:avLst>
          </a:prstGeom>
          <a:solidFill>
            <a:srgbClr val="F7F8FA"/>
          </a:solidFill>
          <a:ln w="10160">
            <a:solidFill>
              <a:srgbClr val="E8ECF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4846320" cy="35478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48737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Rankings &amp; Skill Heatmap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715000" y="1143000"/>
            <a:ext cx="30175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5000" y="1252728"/>
            <a:ext cx="4572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8"/>
          <p:cNvSpPr/>
          <p:nvPr/>
        </p:nvSpPr>
        <p:spPr>
          <a:xfrm>
            <a:off x="5897880" y="12161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62.48%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897880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 score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0" y="2057400"/>
            <a:ext cx="30175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15000" y="2167128"/>
            <a:ext cx="45720" cy="548640"/>
          </a:xfrm>
          <a:prstGeom prst="rect">
            <a:avLst/>
          </a:prstGeom>
          <a:solidFill>
            <a:srgbClr val="2E4D8C"/>
          </a:solidFill>
          <a:ln/>
        </p:spPr>
      </p:sp>
      <p:sp>
        <p:nvSpPr>
          <p:cNvPr id="15" name="Text 12"/>
          <p:cNvSpPr/>
          <p:nvPr/>
        </p:nvSpPr>
        <p:spPr>
          <a:xfrm>
            <a:off x="5897880" y="21305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897880" y="2514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match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15000" y="2971800"/>
            <a:ext cx="30175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15000" y="3081528"/>
            <a:ext cx="45720" cy="548640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19" name="Text 16"/>
          <p:cNvSpPr/>
          <p:nvPr/>
        </p:nvSpPr>
        <p:spPr>
          <a:xfrm>
            <a:off x="5897880" y="30449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89788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analysed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15000" y="3886200"/>
            <a:ext cx="30175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15000" y="3995928"/>
            <a:ext cx="45720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0"/>
          <p:cNvSpPr/>
          <p:nvPr/>
        </p:nvSpPr>
        <p:spPr>
          <a:xfrm>
            <a:off x="5897880" y="39593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897880" y="4343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matched (top)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715000" y="4773168"/>
            <a:ext cx="3017520" cy="256032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8890">
            <a:solidFill>
              <a:srgbClr val="E8ECF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47914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 on 2 test resumes against 1 JD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 for the next version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8229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9903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4173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325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Integration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566160" y="129844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recruiters to import candidate profiles directly from LinkedIn, expanding data sources beyond uploaded PDFs.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229514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31343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2221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Analysis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566160" y="219456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LLM-based question generation and video interview transcript analysis for end-to-end screening.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" y="2980944"/>
            <a:ext cx="8412480" cy="8229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8" name="Shape 14"/>
          <p:cNvSpPr/>
          <p:nvPr/>
        </p:nvSpPr>
        <p:spPr>
          <a:xfrm>
            <a:off x="457200" y="3191256"/>
            <a:ext cx="384048" cy="38404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209544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31181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Recruiter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3566160" y="309067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conversational interface so recruiters can query candidate data using natural language questions.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" y="4087368"/>
            <a:ext cx="384048" cy="38404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4" name="Text 19"/>
          <p:cNvSpPr/>
          <p:nvPr/>
        </p:nvSpPr>
        <p:spPr>
          <a:xfrm>
            <a:off x="45720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105656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63040" y="40142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Resume Support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3566160" y="398678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parsing and matching to support resumes in Hindi and other regional languages using multilingual models.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enhancements are scoped for future development beyond the current internship project.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TalentLens 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1371600" cy="45720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7830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AI and NLP can significantly improve the recruitment process. By combining Sentence-BERT semantic matching with ATS keyword scoring, TalentLens AI delivers fast, objective and ranked candidate shortlisting.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Applied: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3703320"/>
            <a:ext cx="1097280" cy="310896"/>
          </a:xfrm>
          <a:prstGeom prst="roundRect">
            <a:avLst>
              <a:gd name="adj" fmla="val 14706"/>
            </a:avLst>
          </a:prstGeom>
          <a:solidFill>
            <a:srgbClr val="2E4D8C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37033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44752" y="3703320"/>
            <a:ext cx="1097280" cy="310896"/>
          </a:xfrm>
          <a:prstGeom prst="roundRect">
            <a:avLst>
              <a:gd name="adj" fmla="val 14706"/>
            </a:avLst>
          </a:prstGeom>
          <a:solidFill>
            <a:srgbClr val="2E4D8C"/>
          </a:solidFill>
          <a:ln/>
        </p:spPr>
      </p:sp>
      <p:sp>
        <p:nvSpPr>
          <p:cNvPr id="11" name="Text 9"/>
          <p:cNvSpPr/>
          <p:nvPr/>
        </p:nvSpPr>
        <p:spPr>
          <a:xfrm>
            <a:off x="1444752" y="37033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SBERT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15184" y="3703320"/>
            <a:ext cx="1097280" cy="310896"/>
          </a:xfrm>
          <a:prstGeom prst="roundRect">
            <a:avLst>
              <a:gd name="adj" fmla="val 14706"/>
            </a:avLst>
          </a:prstGeom>
          <a:solidFill>
            <a:srgbClr val="2E4D8C"/>
          </a:solidFill>
          <a:ln/>
        </p:spPr>
      </p:sp>
      <p:sp>
        <p:nvSpPr>
          <p:cNvPr id="13" name="Text 11"/>
          <p:cNvSpPr/>
          <p:nvPr/>
        </p:nvSpPr>
        <p:spPr>
          <a:xfrm>
            <a:off x="2615184" y="37033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4087368"/>
            <a:ext cx="1097280" cy="310896"/>
          </a:xfrm>
          <a:prstGeom prst="roundRect">
            <a:avLst>
              <a:gd name="adj" fmla="val 14706"/>
            </a:avLst>
          </a:prstGeom>
          <a:solidFill>
            <a:srgbClr val="2E4D8C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0873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444752" y="4087368"/>
            <a:ext cx="1097280" cy="310896"/>
          </a:xfrm>
          <a:prstGeom prst="roundRect">
            <a:avLst>
              <a:gd name="adj" fmla="val 14706"/>
            </a:avLst>
          </a:prstGeom>
          <a:solidFill>
            <a:srgbClr val="2E4D8C"/>
          </a:solidFill>
          <a:ln/>
        </p:spPr>
      </p:sp>
      <p:sp>
        <p:nvSpPr>
          <p:cNvPr id="17" name="Text 15"/>
          <p:cNvSpPr/>
          <p:nvPr/>
        </p:nvSpPr>
        <p:spPr>
          <a:xfrm>
            <a:off x="1444752" y="40873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60520" y="1188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9" name="Shape 17"/>
          <p:cNvSpPr/>
          <p:nvPr/>
        </p:nvSpPr>
        <p:spPr>
          <a:xfrm>
            <a:off x="4160520" y="2029968"/>
            <a:ext cx="2286000" cy="50292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20" name="Text 18"/>
          <p:cNvSpPr/>
          <p:nvPr/>
        </p:nvSpPr>
        <p:spPr>
          <a:xfrm>
            <a:off x="4160520" y="2148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time and attention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60520" y="2651760"/>
            <a:ext cx="4663440" cy="2286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2" name="Text 20"/>
          <p:cNvSpPr/>
          <p:nvPr/>
        </p:nvSpPr>
        <p:spPr>
          <a:xfrm>
            <a:off x="4160520" y="28346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85232" y="2834640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 Srivastava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60520" y="32735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85232" y="3273552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AIML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60520" y="37124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85232" y="3712464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UPES Dehradun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60520" y="41513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85232" y="4151376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TalentLens AI — AI Resume Shortlisting System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60520" y="47731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Streamlit · Sentence Transformers · PyPDF2 · Plotly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2026-05-12T09:21:19Z</dcterms:created>
  <dcterms:modified xsi:type="dcterms:W3CDTF">2026-05-12T09:21:19Z</dcterms:modified>
</cp:coreProperties>
</file>